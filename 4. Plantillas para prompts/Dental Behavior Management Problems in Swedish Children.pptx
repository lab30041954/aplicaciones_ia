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embeddedFontLst>
    <p:embeddedFont>
      <p:font typeface="Quattrocento Sans" charset="-122" pitchFamily="34"/>
      <p:regular r:id="rId10"/>
    </p:embeddedFont>
    <p:embeddedFont>
      <p:font typeface="Liter" charset="-122" pitchFamily="34"/>
      <p:regular r:id="rId1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font" Target="fonts/font1.fntdata"/><Relationship Id="rId1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springernature.com/5a800a3884b977670e68b25ac0e4d6c361d1452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2398" b="239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C3E50">
                  <a:alpha val="95000"/>
                </a:srgbClr>
              </a:gs>
              <a:gs pos="50000">
                <a:srgbClr val="2C3E50">
                  <a:alpha val="90000"/>
                </a:srgbClr>
              </a:gs>
              <a:gs pos="100000">
                <a:srgbClr val="5499C7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690563"/>
            <a:ext cx="2438400" cy="390525"/>
          </a:xfrm>
          <a:custGeom>
            <a:avLst/>
            <a:gdLst/>
            <a:ahLst/>
            <a:cxnLst/>
            <a:rect l="l" t="t" r="r" b="b"/>
            <a:pathLst>
              <a:path w="2438400" h="390525">
                <a:moveTo>
                  <a:pt x="76199" y="0"/>
                </a:moveTo>
                <a:lnTo>
                  <a:pt x="2362201" y="0"/>
                </a:lnTo>
                <a:cubicBezTo>
                  <a:pt x="2404284" y="0"/>
                  <a:pt x="2438400" y="34116"/>
                  <a:pt x="2438400" y="76199"/>
                </a:cubicBezTo>
                <a:lnTo>
                  <a:pt x="2438400" y="314326"/>
                </a:lnTo>
                <a:cubicBezTo>
                  <a:pt x="2438400" y="356409"/>
                  <a:pt x="2404284" y="390525"/>
                  <a:pt x="236220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499C7">
              <a:alpha val="20000"/>
            </a:srgbClr>
          </a:solidFill>
          <a:ln w="12700">
            <a:solidFill>
              <a:srgbClr val="5499C7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771525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4F6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PAPER SUMMARY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108183" y="685800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4F6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International Conference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08183" y="914400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4F6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Dental Research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1533525"/>
            <a:ext cx="6143625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4F6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Dental Behavior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4F6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Management Problems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4F6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Swedish Children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403860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5499C7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" y="398145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6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G. Klingberg, L. Vannas Löfqvist, S. Bjarnason, J.G. Norén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3400" y="4286250"/>
            <a:ext cx="467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4F6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University of Göteborg, Sweden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57213" y="47339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47316"/>
                </a:moveTo>
                <a:lnTo>
                  <a:pt x="85725" y="150889"/>
                </a:lnTo>
                <a:lnTo>
                  <a:pt x="85892" y="150822"/>
                </a:lnTo>
                <a:cubicBezTo>
                  <a:pt x="104176" y="143221"/>
                  <a:pt x="123799" y="139303"/>
                  <a:pt x="143589" y="139303"/>
                </a:cubicBezTo>
                <a:lnTo>
                  <a:pt x="150019" y="139303"/>
                </a:lnTo>
                <a:lnTo>
                  <a:pt x="150019" y="32147"/>
                </a:lnTo>
                <a:lnTo>
                  <a:pt x="143589" y="32147"/>
                </a:lnTo>
                <a:cubicBezTo>
                  <a:pt x="129458" y="32147"/>
                  <a:pt x="115427" y="34960"/>
                  <a:pt x="102368" y="40385"/>
                </a:cubicBezTo>
                <a:cubicBezTo>
                  <a:pt x="96742" y="42729"/>
                  <a:pt x="91183" y="45039"/>
                  <a:pt x="85725" y="47316"/>
                </a:cubicBezTo>
                <a:close/>
                <a:moveTo>
                  <a:pt x="77320" y="20594"/>
                </a:moveTo>
                <a:lnTo>
                  <a:pt x="85725" y="24110"/>
                </a:lnTo>
                <a:lnTo>
                  <a:pt x="94130" y="20594"/>
                </a:lnTo>
                <a:cubicBezTo>
                  <a:pt x="109802" y="14064"/>
                  <a:pt x="126612" y="10716"/>
                  <a:pt x="143589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144661"/>
                </a:lnTo>
                <a:cubicBezTo>
                  <a:pt x="171450" y="153535"/>
                  <a:pt x="164250" y="160734"/>
                  <a:pt x="155377" y="160734"/>
                </a:cubicBezTo>
                <a:lnTo>
                  <a:pt x="143589" y="160734"/>
                </a:lnTo>
                <a:cubicBezTo>
                  <a:pt x="126612" y="160734"/>
                  <a:pt x="109802" y="164083"/>
                  <a:pt x="94130" y="170613"/>
                </a:cubicBezTo>
                <a:lnTo>
                  <a:pt x="89844" y="172388"/>
                </a:lnTo>
                <a:cubicBezTo>
                  <a:pt x="87198" y="173493"/>
                  <a:pt x="84252" y="173493"/>
                  <a:pt x="81606" y="172388"/>
                </a:cubicBezTo>
                <a:lnTo>
                  <a:pt x="77320" y="170613"/>
                </a:lnTo>
                <a:cubicBezTo>
                  <a:pt x="61648" y="164083"/>
                  <a:pt x="44838" y="160734"/>
                  <a:pt x="27861" y="160734"/>
                </a:cubicBezTo>
                <a:lnTo>
                  <a:pt x="16073" y="160734"/>
                </a:lnTo>
                <a:cubicBezTo>
                  <a:pt x="7200" y="160734"/>
                  <a:pt x="0" y="153535"/>
                  <a:pt x="0" y="144661"/>
                </a:cubicBezTo>
                <a:lnTo>
                  <a:pt x="0" y="26789"/>
                </a:lnTo>
                <a:cubicBezTo>
                  <a:pt x="0" y="17915"/>
                  <a:pt x="7200" y="10716"/>
                  <a:pt x="16073" y="10716"/>
                </a:cubicBezTo>
                <a:lnTo>
                  <a:pt x="27861" y="10716"/>
                </a:lnTo>
                <a:cubicBezTo>
                  <a:pt x="44838" y="10716"/>
                  <a:pt x="61648" y="14064"/>
                  <a:pt x="77320" y="20594"/>
                </a:cubicBezTo>
                <a:close/>
              </a:path>
            </a:pathLst>
          </a:custGeom>
          <a:solidFill>
            <a:srgbClr val="5499C7"/>
          </a:solidFill>
          <a:ln/>
        </p:spPr>
      </p:sp>
      <p:sp>
        <p:nvSpPr>
          <p:cNvPr id="13" name="Text 10"/>
          <p:cNvSpPr/>
          <p:nvPr/>
        </p:nvSpPr>
        <p:spPr>
          <a:xfrm>
            <a:off x="862013" y="4705350"/>
            <a:ext cx="3676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6F7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Community Dent. Oral Epidemiol. 22(3):201-205 (1994)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6497" y="51149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40475" y="32147"/>
                </a:moveTo>
                <a:cubicBezTo>
                  <a:pt x="134916" y="32147"/>
                  <a:pt x="129525" y="33654"/>
                  <a:pt x="124804" y="36400"/>
                </a:cubicBezTo>
                <a:cubicBezTo>
                  <a:pt x="119513" y="31042"/>
                  <a:pt x="113351" y="26555"/>
                  <a:pt x="106553" y="23173"/>
                </a:cubicBezTo>
                <a:cubicBezTo>
                  <a:pt x="115997" y="15136"/>
                  <a:pt x="128018" y="10716"/>
                  <a:pt x="140475" y="10716"/>
                </a:cubicBezTo>
                <a:cubicBezTo>
                  <a:pt x="169407" y="10716"/>
                  <a:pt x="192881" y="34156"/>
                  <a:pt x="192881" y="63122"/>
                </a:cubicBezTo>
                <a:cubicBezTo>
                  <a:pt x="192881" y="77019"/>
                  <a:pt x="187356" y="90346"/>
                  <a:pt x="177545" y="100158"/>
                </a:cubicBezTo>
                <a:lnTo>
                  <a:pt x="153736" y="123966"/>
                </a:lnTo>
                <a:cubicBezTo>
                  <a:pt x="143924" y="133778"/>
                  <a:pt x="130597" y="139303"/>
                  <a:pt x="116700" y="139303"/>
                </a:cubicBezTo>
                <a:cubicBezTo>
                  <a:pt x="87768" y="139303"/>
                  <a:pt x="64294" y="115863"/>
                  <a:pt x="64294" y="86897"/>
                </a:cubicBezTo>
                <a:cubicBezTo>
                  <a:pt x="64294" y="86395"/>
                  <a:pt x="64294" y="85892"/>
                  <a:pt x="64327" y="85390"/>
                </a:cubicBezTo>
                <a:cubicBezTo>
                  <a:pt x="64495" y="79463"/>
                  <a:pt x="69417" y="74808"/>
                  <a:pt x="75344" y="74976"/>
                </a:cubicBezTo>
                <a:cubicBezTo>
                  <a:pt x="81271" y="75143"/>
                  <a:pt x="85926" y="80066"/>
                  <a:pt x="85758" y="85993"/>
                </a:cubicBezTo>
                <a:cubicBezTo>
                  <a:pt x="85758" y="86294"/>
                  <a:pt x="85758" y="86596"/>
                  <a:pt x="85758" y="86864"/>
                </a:cubicBezTo>
                <a:cubicBezTo>
                  <a:pt x="85758" y="103975"/>
                  <a:pt x="99622" y="117838"/>
                  <a:pt x="116733" y="117838"/>
                </a:cubicBezTo>
                <a:cubicBezTo>
                  <a:pt x="124937" y="117838"/>
                  <a:pt x="132807" y="114590"/>
                  <a:pt x="138633" y="108764"/>
                </a:cubicBezTo>
                <a:lnTo>
                  <a:pt x="162442" y="84955"/>
                </a:lnTo>
                <a:cubicBezTo>
                  <a:pt x="168235" y="79162"/>
                  <a:pt x="171517" y="71259"/>
                  <a:pt x="171517" y="63055"/>
                </a:cubicBezTo>
                <a:cubicBezTo>
                  <a:pt x="171517" y="45943"/>
                  <a:pt x="157654" y="32080"/>
                  <a:pt x="140542" y="32080"/>
                </a:cubicBezTo>
                <a:close/>
                <a:moveTo>
                  <a:pt x="92154" y="58032"/>
                </a:moveTo>
                <a:cubicBezTo>
                  <a:pt x="91518" y="57764"/>
                  <a:pt x="90882" y="57396"/>
                  <a:pt x="90313" y="56994"/>
                </a:cubicBezTo>
                <a:cubicBezTo>
                  <a:pt x="86093" y="54817"/>
                  <a:pt x="81271" y="53578"/>
                  <a:pt x="76215" y="53578"/>
                </a:cubicBezTo>
                <a:cubicBezTo>
                  <a:pt x="68011" y="53578"/>
                  <a:pt x="60141" y="56826"/>
                  <a:pt x="54315" y="62653"/>
                </a:cubicBezTo>
                <a:lnTo>
                  <a:pt x="30506" y="86462"/>
                </a:lnTo>
                <a:cubicBezTo>
                  <a:pt x="24713" y="92255"/>
                  <a:pt x="21431" y="100158"/>
                  <a:pt x="21431" y="108362"/>
                </a:cubicBezTo>
                <a:cubicBezTo>
                  <a:pt x="21431" y="125473"/>
                  <a:pt x="35295" y="139337"/>
                  <a:pt x="52406" y="139337"/>
                </a:cubicBezTo>
                <a:cubicBezTo>
                  <a:pt x="57931" y="139337"/>
                  <a:pt x="63323" y="137863"/>
                  <a:pt x="68044" y="135117"/>
                </a:cubicBezTo>
                <a:cubicBezTo>
                  <a:pt x="73335" y="140475"/>
                  <a:pt x="79497" y="144962"/>
                  <a:pt x="86328" y="148344"/>
                </a:cubicBezTo>
                <a:cubicBezTo>
                  <a:pt x="76885" y="156348"/>
                  <a:pt x="64897" y="160801"/>
                  <a:pt x="52406" y="160801"/>
                </a:cubicBezTo>
                <a:cubicBezTo>
                  <a:pt x="23474" y="160801"/>
                  <a:pt x="0" y="137361"/>
                  <a:pt x="0" y="108395"/>
                </a:cubicBezTo>
                <a:cubicBezTo>
                  <a:pt x="0" y="94498"/>
                  <a:pt x="5525" y="81171"/>
                  <a:pt x="15337" y="71359"/>
                </a:cubicBezTo>
                <a:lnTo>
                  <a:pt x="39146" y="47551"/>
                </a:lnTo>
                <a:cubicBezTo>
                  <a:pt x="48957" y="37739"/>
                  <a:pt x="62285" y="32214"/>
                  <a:pt x="76181" y="32214"/>
                </a:cubicBezTo>
                <a:cubicBezTo>
                  <a:pt x="105181" y="32214"/>
                  <a:pt x="128588" y="55855"/>
                  <a:pt x="128588" y="84754"/>
                </a:cubicBezTo>
                <a:cubicBezTo>
                  <a:pt x="128588" y="85189"/>
                  <a:pt x="128588" y="85625"/>
                  <a:pt x="128588" y="86060"/>
                </a:cubicBezTo>
                <a:cubicBezTo>
                  <a:pt x="128454" y="91987"/>
                  <a:pt x="123531" y="96642"/>
                  <a:pt x="117604" y="96508"/>
                </a:cubicBezTo>
                <a:cubicBezTo>
                  <a:pt x="111677" y="96374"/>
                  <a:pt x="107022" y="91451"/>
                  <a:pt x="107156" y="85524"/>
                </a:cubicBezTo>
                <a:cubicBezTo>
                  <a:pt x="107156" y="85256"/>
                  <a:pt x="107156" y="85022"/>
                  <a:pt x="107156" y="84754"/>
                </a:cubicBezTo>
                <a:cubicBezTo>
                  <a:pt x="107156" y="73469"/>
                  <a:pt x="101129" y="63557"/>
                  <a:pt x="92154" y="58099"/>
                </a:cubicBezTo>
                <a:close/>
              </a:path>
            </a:pathLst>
          </a:custGeom>
          <a:solidFill>
            <a:srgbClr val="5499C7"/>
          </a:solidFill>
          <a:ln/>
        </p:spPr>
      </p:sp>
      <p:sp>
        <p:nvSpPr>
          <p:cNvPr id="15" name="Text 12"/>
          <p:cNvSpPr/>
          <p:nvPr/>
        </p:nvSpPr>
        <p:spPr>
          <a:xfrm>
            <a:off x="862013" y="5086350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6F7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DOI: 10.1111/j.1600-0528.1994.tb01841.x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81000" y="57102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4F6F7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383381" y="59721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5499C7"/>
          </a:solidFill>
          <a:ln/>
        </p:spPr>
      </p:sp>
      <p:sp>
        <p:nvSpPr>
          <p:cNvPr id="18" name="Text 15"/>
          <p:cNvSpPr/>
          <p:nvPr/>
        </p:nvSpPr>
        <p:spPr>
          <a:xfrm>
            <a:off x="671513" y="5943600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6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 = 4,505 children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137023" y="5972175"/>
            <a:ext cx="107156" cy="171450"/>
          </a:xfrm>
          <a:custGeom>
            <a:avLst/>
            <a:gdLst/>
            <a:ahLst/>
            <a:cxnLst/>
            <a:rect l="l" t="t" r="r" b="b"/>
            <a:pathLst>
              <a:path w="107156" h="171450">
                <a:moveTo>
                  <a:pt x="32147" y="21431"/>
                </a:moveTo>
                <a:cubicBezTo>
                  <a:pt x="32147" y="9603"/>
                  <a:pt x="41750" y="0"/>
                  <a:pt x="53578" y="0"/>
                </a:cubicBezTo>
                <a:cubicBezTo>
                  <a:pt x="65406" y="0"/>
                  <a:pt x="75009" y="9603"/>
                  <a:pt x="75009" y="21431"/>
                </a:cubicBezTo>
                <a:cubicBezTo>
                  <a:pt x="75009" y="33259"/>
                  <a:pt x="65406" y="42863"/>
                  <a:pt x="53578" y="42863"/>
                </a:cubicBezTo>
                <a:cubicBezTo>
                  <a:pt x="41750" y="42863"/>
                  <a:pt x="32147" y="33259"/>
                  <a:pt x="32147" y="21431"/>
                </a:cubicBezTo>
                <a:close/>
                <a:moveTo>
                  <a:pt x="48220" y="128588"/>
                </a:moveTo>
                <a:lnTo>
                  <a:pt x="48220" y="160734"/>
                </a:lnTo>
                <a:cubicBezTo>
                  <a:pt x="48220" y="166661"/>
                  <a:pt x="43432" y="171450"/>
                  <a:pt x="37505" y="171450"/>
                </a:cubicBezTo>
                <a:cubicBezTo>
                  <a:pt x="31578" y="171450"/>
                  <a:pt x="26789" y="166661"/>
                  <a:pt x="26789" y="160734"/>
                </a:cubicBezTo>
                <a:lnTo>
                  <a:pt x="26789" y="96374"/>
                </a:lnTo>
                <a:lnTo>
                  <a:pt x="19790" y="107491"/>
                </a:lnTo>
                <a:cubicBezTo>
                  <a:pt x="16643" y="112514"/>
                  <a:pt x="10012" y="113987"/>
                  <a:pt x="5023" y="110840"/>
                </a:cubicBezTo>
                <a:cubicBezTo>
                  <a:pt x="33" y="107692"/>
                  <a:pt x="-1507" y="101095"/>
                  <a:pt x="1641" y="96106"/>
                </a:cubicBezTo>
                <a:lnTo>
                  <a:pt x="15002" y="74909"/>
                </a:lnTo>
                <a:cubicBezTo>
                  <a:pt x="23340" y="61615"/>
                  <a:pt x="37907" y="53578"/>
                  <a:pt x="53578" y="53578"/>
                </a:cubicBezTo>
                <a:cubicBezTo>
                  <a:pt x="69250" y="53578"/>
                  <a:pt x="83816" y="61615"/>
                  <a:pt x="92154" y="74875"/>
                </a:cubicBezTo>
                <a:lnTo>
                  <a:pt x="105515" y="96106"/>
                </a:lnTo>
                <a:cubicBezTo>
                  <a:pt x="108663" y="101129"/>
                  <a:pt x="107156" y="107726"/>
                  <a:pt x="102167" y="110873"/>
                </a:cubicBezTo>
                <a:cubicBezTo>
                  <a:pt x="97177" y="114021"/>
                  <a:pt x="90547" y="112514"/>
                  <a:pt x="87399" y="107525"/>
                </a:cubicBezTo>
                <a:lnTo>
                  <a:pt x="80367" y="96374"/>
                </a:lnTo>
                <a:lnTo>
                  <a:pt x="80367" y="160734"/>
                </a:lnTo>
                <a:cubicBezTo>
                  <a:pt x="80367" y="166661"/>
                  <a:pt x="75579" y="171450"/>
                  <a:pt x="69652" y="171450"/>
                </a:cubicBezTo>
                <a:cubicBezTo>
                  <a:pt x="63724" y="171450"/>
                  <a:pt x="58936" y="166661"/>
                  <a:pt x="58936" y="160734"/>
                </a:cubicBezTo>
                <a:lnTo>
                  <a:pt x="58936" y="128588"/>
                </a:lnTo>
                <a:lnTo>
                  <a:pt x="48220" y="128588"/>
                </a:lnTo>
                <a:close/>
              </a:path>
            </a:pathLst>
          </a:custGeom>
          <a:solidFill>
            <a:srgbClr val="5499C7"/>
          </a:solidFill>
          <a:ln/>
        </p:spPr>
      </p:sp>
      <p:sp>
        <p:nvSpPr>
          <p:cNvPr id="20" name="Text 17"/>
          <p:cNvSpPr/>
          <p:nvPr/>
        </p:nvSpPr>
        <p:spPr>
          <a:xfrm>
            <a:off x="2371576" y="5943600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6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Ages 4-11 years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612728" y="59721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42863" y="21431"/>
                </a:moveTo>
                <a:cubicBezTo>
                  <a:pt x="42863" y="9611"/>
                  <a:pt x="52473" y="0"/>
                  <a:pt x="64294" y="0"/>
                </a:cubicBezTo>
                <a:lnTo>
                  <a:pt x="128588" y="0"/>
                </a:lnTo>
                <a:cubicBezTo>
                  <a:pt x="140408" y="0"/>
                  <a:pt x="150019" y="9611"/>
                  <a:pt x="150019" y="21431"/>
                </a:cubicBezTo>
                <a:lnTo>
                  <a:pt x="150019" y="42863"/>
                </a:lnTo>
                <a:lnTo>
                  <a:pt x="171450" y="42863"/>
                </a:lnTo>
                <a:cubicBezTo>
                  <a:pt x="183271" y="42863"/>
                  <a:pt x="192881" y="52473"/>
                  <a:pt x="192881" y="64294"/>
                </a:cubicBezTo>
                <a:lnTo>
                  <a:pt x="192881" y="150019"/>
                </a:lnTo>
                <a:cubicBezTo>
                  <a:pt x="192881" y="161839"/>
                  <a:pt x="183271" y="171450"/>
                  <a:pt x="171450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64294"/>
                </a:lnTo>
                <a:cubicBezTo>
                  <a:pt x="0" y="52473"/>
                  <a:pt x="9611" y="42863"/>
                  <a:pt x="21431" y="42863"/>
                </a:cubicBezTo>
                <a:lnTo>
                  <a:pt x="42863" y="42863"/>
                </a:lnTo>
                <a:lnTo>
                  <a:pt x="42863" y="21431"/>
                </a:lnTo>
                <a:close/>
                <a:moveTo>
                  <a:pt x="91083" y="117872"/>
                </a:moveTo>
                <a:cubicBezTo>
                  <a:pt x="85156" y="117872"/>
                  <a:pt x="80367" y="122660"/>
                  <a:pt x="80367" y="128588"/>
                </a:cubicBezTo>
                <a:lnTo>
                  <a:pt x="80367" y="155377"/>
                </a:lnTo>
                <a:lnTo>
                  <a:pt x="112514" y="155377"/>
                </a:lnTo>
                <a:lnTo>
                  <a:pt x="112514" y="128588"/>
                </a:lnTo>
                <a:cubicBezTo>
                  <a:pt x="112514" y="122660"/>
                  <a:pt x="107726" y="117872"/>
                  <a:pt x="101798" y="117872"/>
                </a:cubicBezTo>
                <a:lnTo>
                  <a:pt x="91083" y="117872"/>
                </a:lnTo>
                <a:close/>
                <a:moveTo>
                  <a:pt x="42863" y="123230"/>
                </a:moveTo>
                <a:lnTo>
                  <a:pt x="42863" y="112514"/>
                </a:lnTo>
                <a:cubicBezTo>
                  <a:pt x="42863" y="109567"/>
                  <a:pt x="40451" y="107156"/>
                  <a:pt x="37505" y="107156"/>
                </a:cubicBezTo>
                <a:lnTo>
                  <a:pt x="26789" y="107156"/>
                </a:lnTo>
                <a:cubicBezTo>
                  <a:pt x="23842" y="107156"/>
                  <a:pt x="21431" y="109567"/>
                  <a:pt x="21431" y="112514"/>
                </a:cubicBezTo>
                <a:lnTo>
                  <a:pt x="21431" y="123230"/>
                </a:lnTo>
                <a:cubicBezTo>
                  <a:pt x="21431" y="126176"/>
                  <a:pt x="23842" y="128588"/>
                  <a:pt x="26789" y="128588"/>
                </a:cubicBezTo>
                <a:lnTo>
                  <a:pt x="37505" y="128588"/>
                </a:lnTo>
                <a:cubicBezTo>
                  <a:pt x="40451" y="128588"/>
                  <a:pt x="42863" y="126176"/>
                  <a:pt x="42863" y="123230"/>
                </a:cubicBezTo>
                <a:close/>
                <a:moveTo>
                  <a:pt x="37505" y="85725"/>
                </a:moveTo>
                <a:cubicBezTo>
                  <a:pt x="40451" y="85725"/>
                  <a:pt x="42863" y="83314"/>
                  <a:pt x="42863" y="80367"/>
                </a:cubicBezTo>
                <a:lnTo>
                  <a:pt x="42863" y="69652"/>
                </a:lnTo>
                <a:cubicBezTo>
                  <a:pt x="42863" y="66705"/>
                  <a:pt x="40451" y="64294"/>
                  <a:pt x="37505" y="64294"/>
                </a:cubicBezTo>
                <a:lnTo>
                  <a:pt x="26789" y="64294"/>
                </a:lnTo>
                <a:cubicBezTo>
                  <a:pt x="23842" y="64294"/>
                  <a:pt x="21431" y="66705"/>
                  <a:pt x="21431" y="69652"/>
                </a:cubicBezTo>
                <a:lnTo>
                  <a:pt x="21431" y="80367"/>
                </a:lnTo>
                <a:cubicBezTo>
                  <a:pt x="21431" y="83314"/>
                  <a:pt x="23842" y="85725"/>
                  <a:pt x="26789" y="85725"/>
                </a:cubicBezTo>
                <a:lnTo>
                  <a:pt x="37505" y="85725"/>
                </a:lnTo>
                <a:close/>
                <a:moveTo>
                  <a:pt x="171450" y="123230"/>
                </a:moveTo>
                <a:lnTo>
                  <a:pt x="171450" y="112514"/>
                </a:lnTo>
                <a:cubicBezTo>
                  <a:pt x="171450" y="109567"/>
                  <a:pt x="169039" y="107156"/>
                  <a:pt x="166092" y="107156"/>
                </a:cubicBezTo>
                <a:lnTo>
                  <a:pt x="155377" y="107156"/>
                </a:lnTo>
                <a:cubicBezTo>
                  <a:pt x="152430" y="107156"/>
                  <a:pt x="150019" y="109567"/>
                  <a:pt x="150019" y="112514"/>
                </a:cubicBezTo>
                <a:lnTo>
                  <a:pt x="150019" y="123230"/>
                </a:lnTo>
                <a:cubicBezTo>
                  <a:pt x="150019" y="126176"/>
                  <a:pt x="152430" y="128588"/>
                  <a:pt x="155377" y="128588"/>
                </a:cubicBezTo>
                <a:lnTo>
                  <a:pt x="166092" y="128588"/>
                </a:lnTo>
                <a:cubicBezTo>
                  <a:pt x="169039" y="128588"/>
                  <a:pt x="171450" y="126176"/>
                  <a:pt x="171450" y="123230"/>
                </a:cubicBezTo>
                <a:close/>
                <a:moveTo>
                  <a:pt x="166092" y="85725"/>
                </a:moveTo>
                <a:cubicBezTo>
                  <a:pt x="169039" y="85725"/>
                  <a:pt x="171450" y="83314"/>
                  <a:pt x="171450" y="80367"/>
                </a:cubicBezTo>
                <a:lnTo>
                  <a:pt x="171450" y="69652"/>
                </a:lnTo>
                <a:cubicBezTo>
                  <a:pt x="171450" y="66705"/>
                  <a:pt x="169039" y="64294"/>
                  <a:pt x="166092" y="64294"/>
                </a:cubicBezTo>
                <a:lnTo>
                  <a:pt x="155377" y="64294"/>
                </a:lnTo>
                <a:cubicBezTo>
                  <a:pt x="152430" y="64294"/>
                  <a:pt x="150019" y="66705"/>
                  <a:pt x="150019" y="69652"/>
                </a:cubicBezTo>
                <a:lnTo>
                  <a:pt x="150019" y="80367"/>
                </a:lnTo>
                <a:cubicBezTo>
                  <a:pt x="150019" y="83314"/>
                  <a:pt x="152430" y="85725"/>
                  <a:pt x="155377" y="85725"/>
                </a:cubicBezTo>
                <a:lnTo>
                  <a:pt x="166092" y="85725"/>
                </a:lnTo>
                <a:close/>
                <a:moveTo>
                  <a:pt x="88404" y="34826"/>
                </a:moveTo>
                <a:lnTo>
                  <a:pt x="88404" y="45541"/>
                </a:lnTo>
                <a:lnTo>
                  <a:pt x="77688" y="45541"/>
                </a:lnTo>
                <a:cubicBezTo>
                  <a:pt x="74741" y="45541"/>
                  <a:pt x="72330" y="47952"/>
                  <a:pt x="72330" y="50899"/>
                </a:cubicBezTo>
                <a:lnTo>
                  <a:pt x="72330" y="56257"/>
                </a:lnTo>
                <a:cubicBezTo>
                  <a:pt x="72330" y="59204"/>
                  <a:pt x="74741" y="61615"/>
                  <a:pt x="77688" y="61615"/>
                </a:cubicBezTo>
                <a:lnTo>
                  <a:pt x="88404" y="61615"/>
                </a:lnTo>
                <a:lnTo>
                  <a:pt x="88404" y="72330"/>
                </a:lnTo>
                <a:cubicBezTo>
                  <a:pt x="88404" y="75277"/>
                  <a:pt x="90815" y="77688"/>
                  <a:pt x="93762" y="77688"/>
                </a:cubicBezTo>
                <a:lnTo>
                  <a:pt x="99120" y="77688"/>
                </a:lnTo>
                <a:cubicBezTo>
                  <a:pt x="102066" y="77688"/>
                  <a:pt x="104477" y="75277"/>
                  <a:pt x="104477" y="72330"/>
                </a:cubicBezTo>
                <a:lnTo>
                  <a:pt x="104477" y="61615"/>
                </a:lnTo>
                <a:lnTo>
                  <a:pt x="115193" y="61615"/>
                </a:lnTo>
                <a:cubicBezTo>
                  <a:pt x="118140" y="61615"/>
                  <a:pt x="120551" y="59204"/>
                  <a:pt x="120551" y="56257"/>
                </a:cubicBezTo>
                <a:lnTo>
                  <a:pt x="120551" y="50899"/>
                </a:lnTo>
                <a:cubicBezTo>
                  <a:pt x="120551" y="47952"/>
                  <a:pt x="118140" y="45541"/>
                  <a:pt x="115193" y="45541"/>
                </a:cubicBezTo>
                <a:lnTo>
                  <a:pt x="104477" y="45541"/>
                </a:lnTo>
                <a:lnTo>
                  <a:pt x="104477" y="34826"/>
                </a:lnTo>
                <a:cubicBezTo>
                  <a:pt x="104477" y="31879"/>
                  <a:pt x="102066" y="29468"/>
                  <a:pt x="99120" y="29468"/>
                </a:cubicBezTo>
                <a:lnTo>
                  <a:pt x="93762" y="29468"/>
                </a:lnTo>
                <a:cubicBezTo>
                  <a:pt x="90815" y="29468"/>
                  <a:pt x="88404" y="31879"/>
                  <a:pt x="88404" y="34826"/>
                </a:cubicBezTo>
                <a:close/>
              </a:path>
            </a:pathLst>
          </a:custGeom>
          <a:solidFill>
            <a:srgbClr val="5499C7"/>
          </a:solidFill>
          <a:ln/>
        </p:spPr>
      </p:sp>
      <p:sp>
        <p:nvSpPr>
          <p:cNvPr id="22" name="Text 19"/>
          <p:cNvSpPr/>
          <p:nvPr/>
        </p:nvSpPr>
        <p:spPr>
          <a:xfrm>
            <a:off x="3890144" y="5943600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6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Dental Service, Göteborg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849347" y="5943600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6F7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February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C3E50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53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0"/>
                </a:moveTo>
                <a:cubicBezTo>
                  <a:pt x="66749" y="0"/>
                  <a:pt x="57150" y="9599"/>
                  <a:pt x="57150" y="21431"/>
                </a:cubicBezTo>
                <a:lnTo>
                  <a:pt x="57150" y="114300"/>
                </a:lnTo>
                <a:cubicBezTo>
                  <a:pt x="57150" y="126132"/>
                  <a:pt x="66749" y="135731"/>
                  <a:pt x="78581" y="135731"/>
                </a:cubicBezTo>
                <a:lnTo>
                  <a:pt x="107156" y="135731"/>
                </a:lnTo>
                <a:cubicBezTo>
                  <a:pt x="118988" y="135731"/>
                  <a:pt x="128588" y="126132"/>
                  <a:pt x="128588" y="114300"/>
                </a:cubicBezTo>
                <a:lnTo>
                  <a:pt x="128588" y="85725"/>
                </a:lnTo>
                <a:lnTo>
                  <a:pt x="142875" y="85725"/>
                </a:lnTo>
                <a:cubicBezTo>
                  <a:pt x="174441" y="85725"/>
                  <a:pt x="200025" y="111309"/>
                  <a:pt x="200025" y="142875"/>
                </a:cubicBezTo>
                <a:cubicBezTo>
                  <a:pt x="200025" y="174441"/>
                  <a:pt x="174441" y="200025"/>
                  <a:pt x="142875" y="200025"/>
                </a:cubicBezTo>
                <a:lnTo>
                  <a:pt x="14288" y="200025"/>
                </a:lnTo>
                <a:cubicBezTo>
                  <a:pt x="6385" y="200025"/>
                  <a:pt x="0" y="206410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214313" y="228600"/>
                </a:lnTo>
                <a:cubicBezTo>
                  <a:pt x="222215" y="228600"/>
                  <a:pt x="228600" y="222215"/>
                  <a:pt x="228600" y="214313"/>
                </a:cubicBezTo>
                <a:cubicBezTo>
                  <a:pt x="228600" y="206410"/>
                  <a:pt x="222215" y="200025"/>
                  <a:pt x="214313" y="200025"/>
                </a:cubicBezTo>
                <a:lnTo>
                  <a:pt x="206767" y="200025"/>
                </a:lnTo>
                <a:cubicBezTo>
                  <a:pt x="220340" y="184845"/>
                  <a:pt x="228600" y="164842"/>
                  <a:pt x="228600" y="142875"/>
                </a:cubicBezTo>
                <a:cubicBezTo>
                  <a:pt x="228600" y="95548"/>
                  <a:pt x="190202" y="57150"/>
                  <a:pt x="142875" y="57150"/>
                </a:cubicBezTo>
                <a:lnTo>
                  <a:pt x="128588" y="57150"/>
                </a:lnTo>
                <a:lnTo>
                  <a:pt x="128588" y="21431"/>
                </a:lnTo>
                <a:cubicBezTo>
                  <a:pt x="128588" y="9599"/>
                  <a:pt x="118988" y="0"/>
                  <a:pt x="107156" y="0"/>
                </a:cubicBezTo>
                <a:lnTo>
                  <a:pt x="78581" y="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32159" y="178594"/>
                </a:lnTo>
                <a:cubicBezTo>
                  <a:pt x="138098" y="178594"/>
                  <a:pt x="142875" y="173816"/>
                  <a:pt x="142875" y="167878"/>
                </a:cubicBezTo>
                <a:cubicBezTo>
                  <a:pt x="142875" y="161940"/>
                  <a:pt x="138098" y="157163"/>
                  <a:pt x="132159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F4F6F7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400050"/>
            <a:ext cx="10915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Overview &amp; Prevalence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66800" y="8572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499C7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143000"/>
            <a:ext cx="5581650" cy="2276475"/>
          </a:xfrm>
          <a:custGeom>
            <a:avLst/>
            <a:gdLst/>
            <a:ahLst/>
            <a:cxnLst/>
            <a:rect l="l" t="t" r="r" b="b"/>
            <a:pathLst>
              <a:path w="5581650" h="2276475">
                <a:moveTo>
                  <a:pt x="38100" y="0"/>
                </a:moveTo>
                <a:lnTo>
                  <a:pt x="5467348" y="0"/>
                </a:lnTo>
                <a:cubicBezTo>
                  <a:pt x="5530475" y="0"/>
                  <a:pt x="5581650" y="51175"/>
                  <a:pt x="5581650" y="114302"/>
                </a:cubicBezTo>
                <a:lnTo>
                  <a:pt x="5581650" y="2162173"/>
                </a:lnTo>
                <a:cubicBezTo>
                  <a:pt x="5581650" y="2225300"/>
                  <a:pt x="5530475" y="2276475"/>
                  <a:pt x="5467348" y="2276475"/>
                </a:cubicBezTo>
                <a:lnTo>
                  <a:pt x="38100" y="2276475"/>
                </a:lnTo>
                <a:cubicBezTo>
                  <a:pt x="17072" y="2276475"/>
                  <a:pt x="0" y="2259403"/>
                  <a:pt x="0" y="2238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0050" y="1143000"/>
            <a:ext cx="38100" cy="2276475"/>
          </a:xfrm>
          <a:custGeom>
            <a:avLst/>
            <a:gdLst/>
            <a:ahLst/>
            <a:cxnLst/>
            <a:rect l="l" t="t" r="r" b="b"/>
            <a:pathLst>
              <a:path w="38100" h="2276475">
                <a:moveTo>
                  <a:pt x="38100" y="0"/>
                </a:moveTo>
                <a:lnTo>
                  <a:pt x="38100" y="0"/>
                </a:lnTo>
                <a:lnTo>
                  <a:pt x="38100" y="2276475"/>
                </a:lnTo>
                <a:lnTo>
                  <a:pt x="38100" y="2276475"/>
                </a:lnTo>
                <a:cubicBezTo>
                  <a:pt x="17072" y="2276475"/>
                  <a:pt x="0" y="2259403"/>
                  <a:pt x="0" y="2238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499C7"/>
          </a:solidFill>
          <a:ln/>
        </p:spPr>
      </p:sp>
      <p:sp>
        <p:nvSpPr>
          <p:cNvPr id="8" name="Shape 6"/>
          <p:cNvSpPr/>
          <p:nvPr/>
        </p:nvSpPr>
        <p:spPr>
          <a:xfrm>
            <a:off x="647700" y="15954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499C7">
              <a:alpha val="14902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04863" y="172878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47625" y="95250"/>
                </a:move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ubicBezTo>
                  <a:pt x="42290" y="107156"/>
                  <a:pt x="47625" y="101821"/>
                  <a:pt x="47625" y="95250"/>
                </a:cubicBezTo>
                <a:close/>
                <a:moveTo>
                  <a:pt x="59531" y="95250"/>
                </a:moveTo>
                <a:cubicBezTo>
                  <a:pt x="59531" y="100199"/>
                  <a:pt x="63512" y="104180"/>
                  <a:pt x="68461" y="104180"/>
                </a:cubicBezTo>
                <a:lnTo>
                  <a:pt x="110133" y="104180"/>
                </a:lnTo>
                <a:cubicBezTo>
                  <a:pt x="115081" y="104180"/>
                  <a:pt x="119063" y="100199"/>
                  <a:pt x="119063" y="95250"/>
                </a:cubicBezTo>
                <a:cubicBezTo>
                  <a:pt x="119063" y="90301"/>
                  <a:pt x="115081" y="86320"/>
                  <a:pt x="110133" y="86320"/>
                </a:cubicBezTo>
                <a:lnTo>
                  <a:pt x="68461" y="86320"/>
                </a:lnTo>
                <a:cubicBezTo>
                  <a:pt x="63512" y="86320"/>
                  <a:pt x="59531" y="90301"/>
                  <a:pt x="59531" y="95250"/>
                </a:cubicBezTo>
                <a:close/>
                <a:moveTo>
                  <a:pt x="59531" y="142875"/>
                </a:moveTo>
                <a:cubicBezTo>
                  <a:pt x="59531" y="147824"/>
                  <a:pt x="63512" y="151805"/>
                  <a:pt x="68461" y="151805"/>
                </a:cubicBezTo>
                <a:lnTo>
                  <a:pt x="110133" y="151805"/>
                </a:lnTo>
                <a:cubicBezTo>
                  <a:pt x="115081" y="151805"/>
                  <a:pt x="119063" y="147824"/>
                  <a:pt x="119063" y="142875"/>
                </a:cubicBezTo>
                <a:cubicBezTo>
                  <a:pt x="119063" y="137926"/>
                  <a:pt x="115081" y="133945"/>
                  <a:pt x="110133" y="133945"/>
                </a:cubicBezTo>
                <a:lnTo>
                  <a:pt x="68461" y="133945"/>
                </a:lnTo>
                <a:cubicBezTo>
                  <a:pt x="63512" y="133945"/>
                  <a:pt x="59531" y="137926"/>
                  <a:pt x="59531" y="142875"/>
                </a:cubicBezTo>
                <a:close/>
                <a:moveTo>
                  <a:pt x="35719" y="154781"/>
                </a:moveTo>
                <a:cubicBezTo>
                  <a:pt x="42290" y="154781"/>
                  <a:pt x="47625" y="149446"/>
                  <a:pt x="47625" y="142875"/>
                </a:cubicBezTo>
                <a:cubicBezTo>
                  <a:pt x="47625" y="136304"/>
                  <a:pt x="42290" y="130969"/>
                  <a:pt x="35719" y="130969"/>
                </a:cubicBezTo>
                <a:cubicBezTo>
                  <a:pt x="29148" y="130969"/>
                  <a:pt x="23812" y="136304"/>
                  <a:pt x="23812" y="142875"/>
                </a:cubicBezTo>
                <a:cubicBezTo>
                  <a:pt x="23812" y="149446"/>
                  <a:pt x="29148" y="154781"/>
                  <a:pt x="35719" y="154781"/>
                </a:cubicBezTo>
                <a:close/>
              </a:path>
            </a:pathLst>
          </a:custGeom>
          <a:solidFill>
            <a:srgbClr val="5499C7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1595438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Design &amp; Setting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7300" y="1976438"/>
            <a:ext cx="4572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C2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Cross-sectional epidemiological study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C2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conducted in Göteborg, Sweden. Dental charts were systematically retrieved from clinics within the Public Dental Service, ensuring a representative sample from the national healthcare system.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609975"/>
            <a:ext cx="5581650" cy="2276475"/>
          </a:xfrm>
          <a:custGeom>
            <a:avLst/>
            <a:gdLst/>
            <a:ahLst/>
            <a:cxnLst/>
            <a:rect l="l" t="t" r="r" b="b"/>
            <a:pathLst>
              <a:path w="5581650" h="2276475">
                <a:moveTo>
                  <a:pt x="38100" y="0"/>
                </a:moveTo>
                <a:lnTo>
                  <a:pt x="5467348" y="0"/>
                </a:lnTo>
                <a:cubicBezTo>
                  <a:pt x="5530475" y="0"/>
                  <a:pt x="5581650" y="51175"/>
                  <a:pt x="5581650" y="114302"/>
                </a:cubicBezTo>
                <a:lnTo>
                  <a:pt x="5581650" y="2162173"/>
                </a:lnTo>
                <a:cubicBezTo>
                  <a:pt x="5581650" y="2225300"/>
                  <a:pt x="5530475" y="2276475"/>
                  <a:pt x="5467348" y="2276475"/>
                </a:cubicBezTo>
                <a:lnTo>
                  <a:pt x="38100" y="2276475"/>
                </a:lnTo>
                <a:cubicBezTo>
                  <a:pt x="17072" y="2276475"/>
                  <a:pt x="0" y="2259403"/>
                  <a:pt x="0" y="2238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0050" y="3609975"/>
            <a:ext cx="38100" cy="2276475"/>
          </a:xfrm>
          <a:custGeom>
            <a:avLst/>
            <a:gdLst/>
            <a:ahLst/>
            <a:cxnLst/>
            <a:rect l="l" t="t" r="r" b="b"/>
            <a:pathLst>
              <a:path w="38100" h="2276475">
                <a:moveTo>
                  <a:pt x="38100" y="0"/>
                </a:moveTo>
                <a:lnTo>
                  <a:pt x="38100" y="0"/>
                </a:lnTo>
                <a:lnTo>
                  <a:pt x="38100" y="2276475"/>
                </a:lnTo>
                <a:lnTo>
                  <a:pt x="38100" y="2276475"/>
                </a:lnTo>
                <a:cubicBezTo>
                  <a:pt x="17072" y="2276475"/>
                  <a:pt x="0" y="2259403"/>
                  <a:pt x="0" y="2238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7700" y="406241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C3E50">
              <a:alpha val="14902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92956" y="419576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6" name="Text 14"/>
          <p:cNvSpPr/>
          <p:nvPr/>
        </p:nvSpPr>
        <p:spPr>
          <a:xfrm>
            <a:off x="1257300" y="4062412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57300" y="4443413"/>
            <a:ext cx="4572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C2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chart review compiled data on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C2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 management problems (BMP)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C2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actions taken against BMP, caries experience, fillings, use of local anesthetics, and number of missed appointments.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0300" y="1143000"/>
            <a:ext cx="5600700" cy="2724150"/>
          </a:xfrm>
          <a:custGeom>
            <a:avLst/>
            <a:gdLst/>
            <a:ahLst/>
            <a:cxnLst/>
            <a:rect l="l" t="t" r="r" b="b"/>
            <a:pathLst>
              <a:path w="5600700" h="2724150">
                <a:moveTo>
                  <a:pt x="114305" y="0"/>
                </a:moveTo>
                <a:lnTo>
                  <a:pt x="5486395" y="0"/>
                </a:lnTo>
                <a:cubicBezTo>
                  <a:pt x="5549524" y="0"/>
                  <a:pt x="5600700" y="51176"/>
                  <a:pt x="5600700" y="114305"/>
                </a:cubicBezTo>
                <a:lnTo>
                  <a:pt x="5600700" y="2609845"/>
                </a:lnTo>
                <a:cubicBezTo>
                  <a:pt x="5600700" y="2672974"/>
                  <a:pt x="5549524" y="2724150"/>
                  <a:pt x="5486395" y="2724150"/>
                </a:cubicBezTo>
                <a:lnTo>
                  <a:pt x="114305" y="2724150"/>
                </a:lnTo>
                <a:cubicBezTo>
                  <a:pt x="51176" y="2724150"/>
                  <a:pt x="0" y="2672974"/>
                  <a:pt x="0" y="260984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C3E50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38900" y="137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499C7"/>
          </a:solidFill>
          <a:ln/>
        </p:spPr>
      </p:sp>
      <p:sp>
        <p:nvSpPr>
          <p:cNvPr id="20" name="Text 18"/>
          <p:cNvSpPr/>
          <p:nvPr/>
        </p:nvSpPr>
        <p:spPr>
          <a:xfrm>
            <a:off x="6378401" y="1504950"/>
            <a:ext cx="87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10.5%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00900" y="1409700"/>
            <a:ext cx="3648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Prevalence of BMP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00900" y="1714500"/>
            <a:ext cx="3609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6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children exhibited behavior management problems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38900" y="2557463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  <a:lnTo>
                  <a:pt x="51435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4F6F7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38900" y="2228850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Sample Size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396686" y="2209800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4,505 children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38900" y="3100388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  <a:lnTo>
                  <a:pt x="51435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4F6F7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38900" y="2771775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 Range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781333" y="2752725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4-11 years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38900" y="3314700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Study Location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197182" y="3295650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Göteborg, Sweden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29350" y="4057650"/>
            <a:ext cx="5581650" cy="1828800"/>
          </a:xfrm>
          <a:custGeom>
            <a:avLst/>
            <a:gdLst/>
            <a:ahLst/>
            <a:cxnLst/>
            <a:rect l="l" t="t" r="r" b="b"/>
            <a:pathLst>
              <a:path w="5581650" h="1828800">
                <a:moveTo>
                  <a:pt x="3810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1714500"/>
                </a:lnTo>
                <a:cubicBezTo>
                  <a:pt x="5581650" y="1777584"/>
                  <a:pt x="5530434" y="1828800"/>
                  <a:pt x="5467350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29350" y="405765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33" name="Shape 31"/>
          <p:cNvSpPr/>
          <p:nvPr/>
        </p:nvSpPr>
        <p:spPr>
          <a:xfrm>
            <a:off x="6477000" y="4286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D6D7E">
              <a:alpha val="14902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10350" y="4419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35" name="Text 33"/>
          <p:cNvSpPr/>
          <p:nvPr/>
        </p:nvSpPr>
        <p:spPr>
          <a:xfrm>
            <a:off x="7086600" y="428625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Prevalence Insight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86600" y="4667250"/>
            <a:ext cx="4572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C2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10.5% prevalence indicates that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C2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approximately 1 in 10 Swedish children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C2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experience significant behavioral challenges during dental treatment, representing a substantial clinical concern for pediatric dentistry practice.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5763" y="6043613"/>
            <a:ext cx="11420475" cy="466725"/>
          </a:xfrm>
          <a:custGeom>
            <a:avLst/>
            <a:gdLst/>
            <a:ahLst/>
            <a:cxnLst/>
            <a:rect l="l" t="t" r="r" b="b"/>
            <a:pathLst>
              <a:path w="11420475" h="466725">
                <a:moveTo>
                  <a:pt x="76202" y="0"/>
                </a:moveTo>
                <a:lnTo>
                  <a:pt x="11344273" y="0"/>
                </a:lnTo>
                <a:cubicBezTo>
                  <a:pt x="11386358" y="0"/>
                  <a:pt x="11420475" y="34117"/>
                  <a:pt x="11420475" y="76202"/>
                </a:cubicBezTo>
                <a:lnTo>
                  <a:pt x="11420475" y="390523"/>
                </a:lnTo>
                <a:cubicBezTo>
                  <a:pt x="11420475" y="432608"/>
                  <a:pt x="11386358" y="466725"/>
                  <a:pt x="1134427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499C7">
              <a:alpha val="10196"/>
            </a:srgbClr>
          </a:solidFill>
          <a:ln w="12700">
            <a:solidFill>
              <a:srgbClr val="5499C7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4838" y="6191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5009" y="53578"/>
                </a:moveTo>
                <a:cubicBezTo>
                  <a:pt x="75009" y="47664"/>
                  <a:pt x="79811" y="42863"/>
                  <a:pt x="85725" y="42863"/>
                </a:cubicBezTo>
                <a:cubicBezTo>
                  <a:pt x="91639" y="42863"/>
                  <a:pt x="96441" y="47664"/>
                  <a:pt x="96441" y="53578"/>
                </a:cubicBezTo>
                <a:cubicBezTo>
                  <a:pt x="96441" y="59492"/>
                  <a:pt x="91639" y="64294"/>
                  <a:pt x="85725" y="64294"/>
                </a:cubicBezTo>
                <a:cubicBezTo>
                  <a:pt x="79811" y="64294"/>
                  <a:pt x="75009" y="59492"/>
                  <a:pt x="75009" y="53578"/>
                </a:cubicBezTo>
                <a:close/>
                <a:moveTo>
                  <a:pt x="72330" y="75009"/>
                </a:moveTo>
                <a:lnTo>
                  <a:pt x="88404" y="75009"/>
                </a:lnTo>
                <a:cubicBezTo>
                  <a:pt x="92858" y="75009"/>
                  <a:pt x="96441" y="78592"/>
                  <a:pt x="96441" y="83046"/>
                </a:cubicBezTo>
                <a:lnTo>
                  <a:pt x="96441" y="112514"/>
                </a:ln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2330" y="128588"/>
                </a:lnTo>
                <a:cubicBezTo>
                  <a:pt x="67877" y="128588"/>
                  <a:pt x="64294" y="125004"/>
                  <a:pt x="64294" y="120551"/>
                </a:cubicBezTo>
                <a:cubicBezTo>
                  <a:pt x="64294" y="116097"/>
                  <a:pt x="67877" y="112514"/>
                  <a:pt x="72330" y="112514"/>
                </a:cubicBezTo>
                <a:lnTo>
                  <a:pt x="80367" y="112514"/>
                </a:lnTo>
                <a:lnTo>
                  <a:pt x="80367" y="91083"/>
                </a:lnTo>
                <a:lnTo>
                  <a:pt x="72330" y="91083"/>
                </a:lnTo>
                <a:cubicBezTo>
                  <a:pt x="67877" y="91083"/>
                  <a:pt x="64294" y="87500"/>
                  <a:pt x="64294" y="83046"/>
                </a:cubicBezTo>
                <a:cubicBezTo>
                  <a:pt x="64294" y="78592"/>
                  <a:pt x="67877" y="75009"/>
                  <a:pt x="72330" y="75009"/>
                </a:cubicBezTo>
                <a:close/>
              </a:path>
            </a:pathLst>
          </a:custGeom>
          <a:solidFill>
            <a:srgbClr val="5499C7"/>
          </a:solidFill>
          <a:ln/>
        </p:spPr>
      </p:sp>
      <p:sp>
        <p:nvSpPr>
          <p:cNvPr id="39" name="Text 37"/>
          <p:cNvSpPr/>
          <p:nvPr/>
        </p:nvSpPr>
        <p:spPr>
          <a:xfrm>
            <a:off x="909638" y="6162675"/>
            <a:ext cx="846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landmark study provides foundational epidemiological data on pediatric dental behavior management in Scandinavia.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499C7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61975" y="5334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4F6F7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400050"/>
            <a:ext cx="10915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 &amp; Clinical Implications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66800" y="8572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499C7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162050"/>
            <a:ext cx="5600700" cy="1866900"/>
          </a:xfrm>
          <a:custGeom>
            <a:avLst/>
            <a:gdLst/>
            <a:ahLst/>
            <a:cxnLst/>
            <a:rect l="l" t="t" r="r" b="b"/>
            <a:pathLst>
              <a:path w="5600700" h="18669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1752608"/>
                </a:lnTo>
                <a:cubicBezTo>
                  <a:pt x="5600700" y="1815730"/>
                  <a:pt x="5549530" y="1866900"/>
                  <a:pt x="5486408" y="1866900"/>
                </a:cubicBezTo>
                <a:lnTo>
                  <a:pt x="114292" y="1866900"/>
                </a:lnTo>
                <a:cubicBezTo>
                  <a:pt x="51170" y="1866900"/>
                  <a:pt x="0" y="1815730"/>
                  <a:pt x="0" y="175260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1000" y="116205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499C7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499C7">
              <a:alpha val="14902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8669" y="1552575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35719" y="23812"/>
                </a:moveTo>
                <a:cubicBezTo>
                  <a:pt x="35719" y="10670"/>
                  <a:pt x="46389" y="0"/>
                  <a:pt x="59531" y="0"/>
                </a:cubicBezTo>
                <a:cubicBezTo>
                  <a:pt x="72674" y="0"/>
                  <a:pt x="83344" y="10670"/>
                  <a:pt x="83344" y="23812"/>
                </a:cubicBezTo>
                <a:cubicBezTo>
                  <a:pt x="83344" y="36955"/>
                  <a:pt x="72674" y="47625"/>
                  <a:pt x="59531" y="47625"/>
                </a:cubicBezTo>
                <a:cubicBezTo>
                  <a:pt x="46389" y="47625"/>
                  <a:pt x="35719" y="36955"/>
                  <a:pt x="35719" y="23812"/>
                </a:cubicBezTo>
                <a:close/>
                <a:moveTo>
                  <a:pt x="53578" y="142875"/>
                </a:moveTo>
                <a:lnTo>
                  <a:pt x="53578" y="178594"/>
                </a:lnTo>
                <a:cubicBezTo>
                  <a:pt x="53578" y="185179"/>
                  <a:pt x="48258" y="190500"/>
                  <a:pt x="41672" y="190500"/>
                </a:cubicBezTo>
                <a:cubicBezTo>
                  <a:pt x="35086" y="190500"/>
                  <a:pt x="29766" y="185179"/>
                  <a:pt x="29766" y="178594"/>
                </a:cubicBezTo>
                <a:lnTo>
                  <a:pt x="29766" y="107082"/>
                </a:lnTo>
                <a:lnTo>
                  <a:pt x="21989" y="119435"/>
                </a:lnTo>
                <a:cubicBezTo>
                  <a:pt x="18492" y="125016"/>
                  <a:pt x="11125" y="126653"/>
                  <a:pt x="5581" y="123155"/>
                </a:cubicBezTo>
                <a:cubicBezTo>
                  <a:pt x="37" y="119658"/>
                  <a:pt x="-1674" y="112328"/>
                  <a:pt x="1823" y="106784"/>
                </a:cubicBezTo>
                <a:lnTo>
                  <a:pt x="16669" y="83232"/>
                </a:lnTo>
                <a:cubicBezTo>
                  <a:pt x="25933" y="68461"/>
                  <a:pt x="42118" y="59531"/>
                  <a:pt x="59531" y="59531"/>
                </a:cubicBezTo>
                <a:cubicBezTo>
                  <a:pt x="76944" y="59531"/>
                  <a:pt x="93129" y="68461"/>
                  <a:pt x="102394" y="83195"/>
                </a:cubicBezTo>
                <a:lnTo>
                  <a:pt x="117239" y="106784"/>
                </a:lnTo>
                <a:cubicBezTo>
                  <a:pt x="120737" y="112365"/>
                  <a:pt x="119063" y="119695"/>
                  <a:pt x="113519" y="123192"/>
                </a:cubicBezTo>
                <a:cubicBezTo>
                  <a:pt x="107975" y="126690"/>
                  <a:pt x="100608" y="125016"/>
                  <a:pt x="97110" y="119472"/>
                </a:cubicBezTo>
                <a:lnTo>
                  <a:pt x="89297" y="107082"/>
                </a:lnTo>
                <a:lnTo>
                  <a:pt x="89297" y="178594"/>
                </a:lnTo>
                <a:cubicBezTo>
                  <a:pt x="89297" y="185179"/>
                  <a:pt x="83976" y="190500"/>
                  <a:pt x="77391" y="190500"/>
                </a:cubicBezTo>
                <a:cubicBezTo>
                  <a:pt x="70805" y="190500"/>
                  <a:pt x="65484" y="185179"/>
                  <a:pt x="65484" y="178594"/>
                </a:cubicBezTo>
                <a:lnTo>
                  <a:pt x="65484" y="142875"/>
                </a:lnTo>
                <a:lnTo>
                  <a:pt x="53578" y="142875"/>
                </a:lnTo>
                <a:close/>
              </a:path>
            </a:pathLst>
          </a:custGeom>
          <a:solidFill>
            <a:srgbClr val="5499C7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1419225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Age-Related Patterns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19200" y="1800225"/>
            <a:ext cx="4610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C2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BMP significantly more common in younger children.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C2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study demonstrates a clear age gradient, with younger children (4-6 years) showing higher rates of disruptive behavior during dental procedures compared to older children (9-11 years).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3238500"/>
            <a:ext cx="5600700" cy="1866900"/>
          </a:xfrm>
          <a:custGeom>
            <a:avLst/>
            <a:gdLst/>
            <a:ahLst/>
            <a:cxnLst/>
            <a:rect l="l" t="t" r="r" b="b"/>
            <a:pathLst>
              <a:path w="5600700" h="18669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1752608"/>
                </a:lnTo>
                <a:cubicBezTo>
                  <a:pt x="5600700" y="1815730"/>
                  <a:pt x="5549530" y="1866900"/>
                  <a:pt x="5486408" y="1866900"/>
                </a:cubicBezTo>
                <a:lnTo>
                  <a:pt x="114292" y="1866900"/>
                </a:lnTo>
                <a:cubicBezTo>
                  <a:pt x="51170" y="1866900"/>
                  <a:pt x="0" y="1815730"/>
                  <a:pt x="0" y="175260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1000" y="323850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600" y="3495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C3E50">
              <a:alpha val="14902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54856" y="36290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108607" y="81893"/>
                </a:moveTo>
                <a:cubicBezTo>
                  <a:pt x="105110" y="78395"/>
                  <a:pt x="99454" y="78395"/>
                  <a:pt x="95994" y="81893"/>
                </a:cubicBezTo>
                <a:lnTo>
                  <a:pt x="83381" y="94506"/>
                </a:lnTo>
                <a:lnTo>
                  <a:pt x="70768" y="81893"/>
                </a:lnTo>
                <a:cubicBezTo>
                  <a:pt x="67270" y="78395"/>
                  <a:pt x="61615" y="78395"/>
                  <a:pt x="58155" y="81893"/>
                </a:cubicBezTo>
                <a:cubicBezTo>
                  <a:pt x="54694" y="85390"/>
                  <a:pt x="54657" y="91046"/>
                  <a:pt x="58155" y="94506"/>
                </a:cubicBezTo>
                <a:lnTo>
                  <a:pt x="70768" y="107119"/>
                </a:lnTo>
                <a:lnTo>
                  <a:pt x="58155" y="119732"/>
                </a:lnTo>
                <a:cubicBezTo>
                  <a:pt x="54657" y="123230"/>
                  <a:pt x="54657" y="128885"/>
                  <a:pt x="58155" y="132345"/>
                </a:cubicBezTo>
                <a:cubicBezTo>
                  <a:pt x="61652" y="135806"/>
                  <a:pt x="67308" y="135843"/>
                  <a:pt x="70768" y="132345"/>
                </a:cubicBezTo>
                <a:lnTo>
                  <a:pt x="83381" y="119732"/>
                </a:lnTo>
                <a:lnTo>
                  <a:pt x="95994" y="132345"/>
                </a:lnTo>
                <a:cubicBezTo>
                  <a:pt x="99492" y="135843"/>
                  <a:pt x="105147" y="135843"/>
                  <a:pt x="108607" y="132345"/>
                </a:cubicBezTo>
                <a:cubicBezTo>
                  <a:pt x="112068" y="128848"/>
                  <a:pt x="112105" y="123192"/>
                  <a:pt x="108607" y="119732"/>
                </a:cubicBezTo>
                <a:lnTo>
                  <a:pt x="95994" y="107119"/>
                </a:lnTo>
                <a:lnTo>
                  <a:pt x="108607" y="94506"/>
                </a:lnTo>
                <a:cubicBezTo>
                  <a:pt x="112105" y="91008"/>
                  <a:pt x="112105" y="85353"/>
                  <a:pt x="108607" y="81893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6" name="Text 14"/>
          <p:cNvSpPr/>
          <p:nvPr/>
        </p:nvSpPr>
        <p:spPr>
          <a:xfrm>
            <a:off x="1219200" y="3495675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Missed Appointments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19200" y="3876675"/>
            <a:ext cx="4610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C2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association between BMP and missed appointments.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C2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Children with behavior management problems were significantly more likely to miss scheduled dental visits, suggesting avoidance behavior patterns in response to dental anxiety.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0300" y="1162050"/>
            <a:ext cx="5600700" cy="1885950"/>
          </a:xfrm>
          <a:custGeom>
            <a:avLst/>
            <a:gdLst/>
            <a:ahLst/>
            <a:cxnLst/>
            <a:rect l="l" t="t" r="r" b="b"/>
            <a:pathLst>
              <a:path w="5600700" h="188595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1771643"/>
                </a:lnTo>
                <a:cubicBezTo>
                  <a:pt x="5600700" y="1834773"/>
                  <a:pt x="5549523" y="1885950"/>
                  <a:pt x="5486393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0300" y="116205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8900" y="1428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D6D7E">
              <a:alpha val="14902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60344" y="15621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85105" y="-6325"/>
                </a:moveTo>
                <a:cubicBezTo>
                  <a:pt x="181608" y="-9823"/>
                  <a:pt x="175952" y="-9823"/>
                  <a:pt x="172492" y="-6325"/>
                </a:cubicBezTo>
                <a:cubicBezTo>
                  <a:pt x="169032" y="-2828"/>
                  <a:pt x="168994" y="2828"/>
                  <a:pt x="172492" y="6288"/>
                </a:cubicBezTo>
                <a:lnTo>
                  <a:pt x="178073" y="11869"/>
                </a:lnTo>
                <a:lnTo>
                  <a:pt x="160920" y="29021"/>
                </a:lnTo>
                <a:lnTo>
                  <a:pt x="137480" y="5581"/>
                </a:lnTo>
                <a:cubicBezTo>
                  <a:pt x="133983" y="2084"/>
                  <a:pt x="128327" y="2084"/>
                  <a:pt x="124867" y="5581"/>
                </a:cubicBezTo>
                <a:cubicBezTo>
                  <a:pt x="121407" y="9079"/>
                  <a:pt x="121369" y="14734"/>
                  <a:pt x="124867" y="18194"/>
                </a:cubicBezTo>
                <a:lnTo>
                  <a:pt x="127471" y="20799"/>
                </a:lnTo>
                <a:lnTo>
                  <a:pt x="98413" y="49857"/>
                </a:lnTo>
                <a:lnTo>
                  <a:pt x="113667" y="65112"/>
                </a:lnTo>
                <a:cubicBezTo>
                  <a:pt x="117165" y="68610"/>
                  <a:pt x="117165" y="74265"/>
                  <a:pt x="113667" y="77725"/>
                </a:cubicBezTo>
                <a:cubicBezTo>
                  <a:pt x="110170" y="81186"/>
                  <a:pt x="104515" y="81223"/>
                  <a:pt x="101054" y="77725"/>
                </a:cubicBezTo>
                <a:lnTo>
                  <a:pt x="85799" y="62471"/>
                </a:lnTo>
                <a:lnTo>
                  <a:pt x="68647" y="79623"/>
                </a:lnTo>
                <a:lnTo>
                  <a:pt x="83902" y="94878"/>
                </a:lnTo>
                <a:cubicBezTo>
                  <a:pt x="87399" y="98375"/>
                  <a:pt x="87399" y="104031"/>
                  <a:pt x="83902" y="107491"/>
                </a:cubicBezTo>
                <a:cubicBezTo>
                  <a:pt x="80404" y="110951"/>
                  <a:pt x="74749" y="110989"/>
                  <a:pt x="71289" y="107491"/>
                </a:cubicBezTo>
                <a:lnTo>
                  <a:pt x="56034" y="92236"/>
                </a:lnTo>
                <a:lnTo>
                  <a:pt x="42007" y="106263"/>
                </a:lnTo>
                <a:cubicBezTo>
                  <a:pt x="38100" y="110170"/>
                  <a:pt x="35905" y="115453"/>
                  <a:pt x="35905" y="120997"/>
                </a:cubicBezTo>
                <a:lnTo>
                  <a:pt x="35905" y="154037"/>
                </a:lnTo>
                <a:lnTo>
                  <a:pt x="14697" y="175245"/>
                </a:lnTo>
                <a:cubicBezTo>
                  <a:pt x="11199" y="178743"/>
                  <a:pt x="11199" y="184398"/>
                  <a:pt x="14697" y="187858"/>
                </a:cubicBezTo>
                <a:cubicBezTo>
                  <a:pt x="18194" y="191319"/>
                  <a:pt x="23850" y="191356"/>
                  <a:pt x="27310" y="187858"/>
                </a:cubicBezTo>
                <a:lnTo>
                  <a:pt x="48518" y="166650"/>
                </a:lnTo>
                <a:lnTo>
                  <a:pt x="81558" y="166650"/>
                </a:lnTo>
                <a:cubicBezTo>
                  <a:pt x="87102" y="166650"/>
                  <a:pt x="92385" y="164455"/>
                  <a:pt x="96292" y="160548"/>
                </a:cubicBezTo>
                <a:lnTo>
                  <a:pt x="181756" y="75084"/>
                </a:lnTo>
                <a:lnTo>
                  <a:pt x="184361" y="77688"/>
                </a:lnTo>
                <a:cubicBezTo>
                  <a:pt x="187858" y="81186"/>
                  <a:pt x="193514" y="81186"/>
                  <a:pt x="196974" y="77688"/>
                </a:cubicBezTo>
                <a:cubicBezTo>
                  <a:pt x="200434" y="74191"/>
                  <a:pt x="200471" y="68535"/>
                  <a:pt x="196974" y="65075"/>
                </a:cubicBezTo>
                <a:lnTo>
                  <a:pt x="173534" y="41635"/>
                </a:lnTo>
                <a:lnTo>
                  <a:pt x="190686" y="24482"/>
                </a:lnTo>
                <a:lnTo>
                  <a:pt x="196267" y="30063"/>
                </a:lnTo>
                <a:cubicBezTo>
                  <a:pt x="199765" y="33561"/>
                  <a:pt x="205420" y="33561"/>
                  <a:pt x="208880" y="30063"/>
                </a:cubicBezTo>
                <a:cubicBezTo>
                  <a:pt x="212341" y="26566"/>
                  <a:pt x="212378" y="20910"/>
                  <a:pt x="208880" y="17450"/>
                </a:cubicBezTo>
                <a:lnTo>
                  <a:pt x="185068" y="-6362"/>
                </a:ln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2" name="Text 20"/>
          <p:cNvSpPr/>
          <p:nvPr/>
        </p:nvSpPr>
        <p:spPr>
          <a:xfrm>
            <a:off x="7048500" y="1428750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Pain Management Link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8500" y="1809750"/>
            <a:ext cx="4610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C2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BMP in children treated without local anesthetics.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C2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Restorative treatment without adequate pain control was associated with increased behavior problems, highlighting the critical importance of effective pain management in pediatric dentistry.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0300" y="3238500"/>
            <a:ext cx="5600700" cy="1866900"/>
          </a:xfrm>
          <a:custGeom>
            <a:avLst/>
            <a:gdLst/>
            <a:ahLst/>
            <a:cxnLst/>
            <a:rect l="l" t="t" r="r" b="b"/>
            <a:pathLst>
              <a:path w="5600700" h="1866900">
                <a:moveTo>
                  <a:pt x="114292" y="0"/>
                </a:moveTo>
                <a:lnTo>
                  <a:pt x="5486408" y="0"/>
                </a:lnTo>
                <a:cubicBezTo>
                  <a:pt x="5549530" y="0"/>
                  <a:pt x="5600700" y="51170"/>
                  <a:pt x="5600700" y="114292"/>
                </a:cubicBezTo>
                <a:lnTo>
                  <a:pt x="5600700" y="1752608"/>
                </a:lnTo>
                <a:cubicBezTo>
                  <a:pt x="5600700" y="1815730"/>
                  <a:pt x="5549530" y="1866900"/>
                  <a:pt x="5486408" y="1866900"/>
                </a:cubicBezTo>
                <a:lnTo>
                  <a:pt x="114292" y="1866900"/>
                </a:lnTo>
                <a:cubicBezTo>
                  <a:pt x="51170" y="1866900"/>
                  <a:pt x="0" y="1815730"/>
                  <a:pt x="0" y="1752608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2C3E50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38900" y="3486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499C7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4156" y="36195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53950" y="2121"/>
                </a:moveTo>
                <a:lnTo>
                  <a:pt x="83344" y="11906"/>
                </a:lnTo>
                <a:lnTo>
                  <a:pt x="112737" y="2121"/>
                </a:lnTo>
                <a:cubicBezTo>
                  <a:pt x="116942" y="707"/>
                  <a:pt x="121295" y="0"/>
                  <a:pt x="125723" y="0"/>
                </a:cubicBezTo>
                <a:cubicBezTo>
                  <a:pt x="148344" y="0"/>
                  <a:pt x="166688" y="18343"/>
                  <a:pt x="166688" y="40965"/>
                </a:cubicBezTo>
                <a:lnTo>
                  <a:pt x="166688" y="66452"/>
                </a:lnTo>
                <a:cubicBezTo>
                  <a:pt x="166688" y="77391"/>
                  <a:pt x="163153" y="88069"/>
                  <a:pt x="156567" y="96813"/>
                </a:cubicBezTo>
                <a:lnTo>
                  <a:pt x="156158" y="97371"/>
                </a:lnTo>
                <a:cubicBezTo>
                  <a:pt x="151358" y="103770"/>
                  <a:pt x="148233" y="111286"/>
                  <a:pt x="147117" y="119211"/>
                </a:cubicBezTo>
                <a:lnTo>
                  <a:pt x="139043" y="175580"/>
                </a:lnTo>
                <a:cubicBezTo>
                  <a:pt x="137815" y="184138"/>
                  <a:pt x="130485" y="190500"/>
                  <a:pt x="121853" y="190500"/>
                </a:cubicBezTo>
                <a:cubicBezTo>
                  <a:pt x="113370" y="190500"/>
                  <a:pt x="106114" y="184361"/>
                  <a:pt x="104738" y="175989"/>
                </a:cubicBezTo>
                <a:lnTo>
                  <a:pt x="97222" y="130820"/>
                </a:lnTo>
                <a:cubicBezTo>
                  <a:pt x="96106" y="124048"/>
                  <a:pt x="90227" y="119063"/>
                  <a:pt x="83344" y="119063"/>
                </a:cubicBezTo>
                <a:cubicBezTo>
                  <a:pt x="76460" y="119063"/>
                  <a:pt x="70619" y="124048"/>
                  <a:pt x="69466" y="130820"/>
                </a:cubicBezTo>
                <a:lnTo>
                  <a:pt x="61950" y="175989"/>
                </a:lnTo>
                <a:cubicBezTo>
                  <a:pt x="60536" y="184361"/>
                  <a:pt x="53318" y="190500"/>
                  <a:pt x="44834" y="190500"/>
                </a:cubicBezTo>
                <a:cubicBezTo>
                  <a:pt x="36202" y="190500"/>
                  <a:pt x="28873" y="184138"/>
                  <a:pt x="27645" y="175580"/>
                </a:cubicBezTo>
                <a:lnTo>
                  <a:pt x="19571" y="119249"/>
                </a:lnTo>
                <a:cubicBezTo>
                  <a:pt x="18455" y="111323"/>
                  <a:pt x="15329" y="103808"/>
                  <a:pt x="10530" y="97408"/>
                </a:cubicBezTo>
                <a:lnTo>
                  <a:pt x="10120" y="96850"/>
                </a:lnTo>
                <a:cubicBezTo>
                  <a:pt x="3535" y="88069"/>
                  <a:pt x="0" y="77428"/>
                  <a:pt x="0" y="66489"/>
                </a:cubicBezTo>
                <a:lnTo>
                  <a:pt x="0" y="41002"/>
                </a:lnTo>
                <a:cubicBezTo>
                  <a:pt x="0" y="18343"/>
                  <a:pt x="18343" y="0"/>
                  <a:pt x="40965" y="0"/>
                </a:cubicBezTo>
                <a:cubicBezTo>
                  <a:pt x="45393" y="0"/>
                  <a:pt x="49746" y="707"/>
                  <a:pt x="53950" y="2121"/>
                </a:cubicBezTo>
                <a:close/>
              </a:path>
            </a:pathLst>
          </a:custGeom>
          <a:solidFill>
            <a:srgbClr val="F4F6F7"/>
          </a:solidFill>
          <a:ln/>
        </p:spPr>
      </p:sp>
      <p:sp>
        <p:nvSpPr>
          <p:cNvPr id="27" name="Text 25"/>
          <p:cNvSpPr/>
          <p:nvPr/>
        </p:nvSpPr>
        <p:spPr>
          <a:xfrm>
            <a:off x="7048500" y="3486150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6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Oral Health Impact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8500" y="3867150"/>
            <a:ext cx="4610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4F6F7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BMP children had worse dental health outcomes.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4F6F7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Children with behavior problems exhibited more carious surfaces and fewer filled surfaces compared to cooperative children, indicating that BMP may lead to delayed or incomplete treatment.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5257800"/>
            <a:ext cx="11410950" cy="1219200"/>
          </a:xfrm>
          <a:custGeom>
            <a:avLst/>
            <a:gdLst/>
            <a:ahLst/>
            <a:cxnLst/>
            <a:rect l="l" t="t" r="r" b="b"/>
            <a:pathLst>
              <a:path w="11410950" h="1219200">
                <a:moveTo>
                  <a:pt x="38100" y="0"/>
                </a:moveTo>
                <a:lnTo>
                  <a:pt x="11296650" y="0"/>
                </a:lnTo>
                <a:cubicBezTo>
                  <a:pt x="11359734" y="0"/>
                  <a:pt x="11410950" y="51216"/>
                  <a:pt x="11410950" y="114300"/>
                </a:cubicBezTo>
                <a:lnTo>
                  <a:pt x="11410950" y="1104900"/>
                </a:lnTo>
                <a:cubicBezTo>
                  <a:pt x="11410950" y="1167984"/>
                  <a:pt x="11359734" y="1219200"/>
                  <a:pt x="112966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499C7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52578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499C7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600" y="544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499C7"/>
          </a:solidFill>
          <a:ln/>
        </p:spPr>
      </p:sp>
      <p:sp>
        <p:nvSpPr>
          <p:cNvPr id="32" name="Shape 30"/>
          <p:cNvSpPr/>
          <p:nvPr/>
        </p:nvSpPr>
        <p:spPr>
          <a:xfrm>
            <a:off x="742950" y="5581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4F6F7"/>
          </a:solidFill>
          <a:ln/>
        </p:spPr>
      </p:sp>
      <p:sp>
        <p:nvSpPr>
          <p:cNvPr id="33" name="Text 31"/>
          <p:cNvSpPr/>
          <p:nvPr/>
        </p:nvSpPr>
        <p:spPr>
          <a:xfrm>
            <a:off x="1219200" y="5448300"/>
            <a:ext cx="10496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Clinical Finding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19200" y="5791200"/>
            <a:ext cx="10477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C2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43.4% of BMP cases resulted in treatment postponement or no action taken.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C2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alarming finding suggests that many dentists lack effective strategies for managing difficult behaviors, potentially leading to deterioration of children's oral health and reinforcing dental avoidance patterns.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Dental Behavior Management Problems in Swedish Children</dc:title>
  <dc:subject>Dental Behavior Management Problems in Swedish Children</dc:subject>
  <dc:creator>Kimi</dc:creator>
  <cp:lastModifiedBy>Kimi</cp:lastModifiedBy>
  <cp:revision>1</cp:revision>
  <dcterms:created xsi:type="dcterms:W3CDTF">2026-02-24T11:20:54Z</dcterms:created>
  <dcterms:modified xsi:type="dcterms:W3CDTF">2026-02-24T11:20:54Z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{"Label":"Dental Behavior Management Problems in Swedish Children","ContentProducer":"001191110108MACG2KBH8F10000","ProduceID":"19c8f43d-d372-8b56-8000-00001e0a1e64","ReservedCode1":"","ContentPropagator":"001191110108MACG2KBH8F20000","PropagateID":"19c8f43d-d372-8b56-8000-00001e0a1e64","ReservedCode2":""}</vt:lpwstr>
  </property>
</Properties>
</file>